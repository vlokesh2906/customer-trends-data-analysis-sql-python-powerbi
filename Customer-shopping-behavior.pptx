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BM Plex Mono Medium" panose="020B0609050203000203" pitchFamily="49" charset="0"/>
      <p:regular r:id="rId11"/>
    </p:embeddedFont>
    <p:embeddedFont>
      <p:font typeface="IBM Plex Sans Condensed Bold" panose="020B0604020202020204" charset="0"/>
      <p:regular r:id="rId12"/>
    </p:embeddedFont>
    <p:embeddedFont>
      <p:font typeface="IBM Plex Sans Medium" panose="020B0603050203000203" pitchFamily="34" charset="0"/>
      <p:regular r:id="rId13"/>
    </p:embeddedFont>
    <p:embeddedFont>
      <p:font typeface="League Gothic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4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1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10">
              <a:alpha val="5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1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15858"/>
            <a:ext cx="1168370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LEADERSHIP OVERVIEW / CUSTOMER 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7987" y="1195586"/>
            <a:ext cx="11175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0" kern="100" spc="-120" dirty="0">
                <a:solidFill>
                  <a:srgbClr val="FFFFFF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CUSTOMER</a:t>
            </a:r>
            <a:endParaRPr lang="en-US" sz="120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12000" kern="100" spc="-120" dirty="0">
                <a:solidFill>
                  <a:srgbClr val="FFFFFF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SHOPPING</a:t>
            </a:r>
            <a:endParaRPr lang="en-US" sz="120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12000" kern="100" spc="-120" dirty="0">
                <a:solidFill>
                  <a:srgbClr val="FFFFFF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BEHAVIOR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07987" y="5852597"/>
            <a:ext cx="1168370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Purchase patterns, customer segments, and the actions most likely to improve growth and retention.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87" y="6299637"/>
            <a:ext cx="1168370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105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3,900 PURCHASES ANALYZED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15858"/>
            <a:ext cx="1168370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THE OPPORTUNITY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7987" y="856751"/>
            <a:ext cx="1117572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b="1" dirty="0">
                <a:solidFill>
                  <a:srgbClr val="F2E7D7"/>
                </a:solidFill>
                <a:latin typeface="IBM Plex Sans Condensed Bold" pitchFamily="34" charset="0"/>
                <a:ea typeface="IBM Plex Sans Condensed Bold" pitchFamily="34" charset="-122"/>
                <a:cs typeface="IBM Plex Sans Condensed Bold" pitchFamily="34" charset="-120"/>
              </a:rPr>
              <a:t>The clearest opportunity is retention, not reach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7987" y="3614440"/>
            <a:ext cx="349658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0" kern="100" spc="-120" dirty="0">
                <a:solidFill>
                  <a:srgbClr val="F23F72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3,900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07987" y="5223689"/>
            <a:ext cx="3725174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PURCHASES ANALYZED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5534898"/>
            <a:ext cx="349658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dataset is broad enough to compare customers, products, and buying patterns.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61756" y="3614440"/>
            <a:ext cx="3268085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0" kern="100" spc="-120" dirty="0">
                <a:solidFill>
                  <a:srgbClr val="F23F72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73%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4461756" y="5223689"/>
            <a:ext cx="349667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NON-SUBSCRIBERS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61756" y="5534898"/>
            <a:ext cx="3268085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largest growth lever is converting existing demand into a stronger repeat relationship.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87029" y="3614440"/>
            <a:ext cx="3496679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0" kern="100" spc="-120" dirty="0">
                <a:solidFill>
                  <a:srgbClr val="F2E7D7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3,116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8187029" y="5223689"/>
            <a:ext cx="349667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LOYAL CUSTOMERS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87029" y="5534898"/>
            <a:ext cx="3496679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Compared with 701 returning and 83 new customers.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26811" y="3462040"/>
            <a:ext cx="12700" cy="2887960"/>
          </a:xfrm>
          <a:prstGeom prst="rect">
            <a:avLst/>
          </a:prstGeom>
          <a:solidFill>
            <a:srgbClr val="F2E7D7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2085" y="3462040"/>
            <a:ext cx="12700" cy="2887960"/>
          </a:xfrm>
          <a:prstGeom prst="rect">
            <a:avLst/>
          </a:prstGeom>
          <a:solidFill>
            <a:srgbClr val="F2E7D7">
              <a:alpha val="28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15858"/>
            <a:ext cx="4185835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COMMERCIAL MIX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7987" y="834976"/>
            <a:ext cx="3677848" cy="1520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F2E7D7"/>
                </a:solidFill>
                <a:latin typeface="IBM Plex Sans Condensed Bold" pitchFamily="34" charset="0"/>
                <a:ea typeface="IBM Plex Sans Condensed Bold" pitchFamily="34" charset="-122"/>
                <a:cs typeface="IBM Plex Sans Condensed Bold" pitchFamily="34" charset="-120"/>
              </a:rPr>
              <a:t>Clothing leads the commercial picture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3809008"/>
            <a:ext cx="3677848" cy="1823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Clothing leads revenue and sales, ahead of accessories, footwear, and outerwear.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Young adults contribute the highest revenue, followed by middle-aged customers.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87" y="5812671"/>
            <a:ext cx="367784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10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CORE PRODUCTS: BLOUSE · PANTS · SHIRT</a:t>
            </a:r>
            <a:endParaRPr lang="en-US" sz="10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10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ACCESSORIES: JEWELRY · SUNGLASSES · BELTS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899" y="1685528"/>
            <a:ext cx="6024809" cy="3227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58899" y="4995108"/>
            <a:ext cx="653279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10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REVENUE BY AGE GROUP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631652"/>
            <a:ext cx="6024809" cy="3335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87" y="5048885"/>
            <a:ext cx="653279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10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PRODUCTS WITH THE HIGHEST DISCOUNT RATES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5860" y="515858"/>
            <a:ext cx="4185835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PROMOTION ECONOMICS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005860" y="834976"/>
            <a:ext cx="3677848" cy="202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F2E7D7"/>
                </a:solidFill>
                <a:latin typeface="IBM Plex Sans Condensed Bold" pitchFamily="34" charset="0"/>
                <a:ea typeface="IBM Plex Sans Condensed Bold" pitchFamily="34" charset="-122"/>
                <a:cs typeface="IBM Plex Sans Condensed Bold" pitchFamily="34" charset="-120"/>
              </a:rPr>
              <a:t>Discounts can drive value without eroding demand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005860" y="3721726"/>
            <a:ext cx="3677848" cy="99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800" kern="100" spc="-78" dirty="0">
                <a:solidFill>
                  <a:srgbClr val="F23F72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839</a:t>
            </a:r>
            <a:endParaRPr lang="en-US" sz="7800" dirty="0"/>
          </a:p>
        </p:txBody>
      </p:sp>
      <p:sp>
        <p:nvSpPr>
          <p:cNvPr id="7" name="Text 4"/>
          <p:cNvSpPr/>
          <p:nvPr/>
        </p:nvSpPr>
        <p:spPr>
          <a:xfrm>
            <a:off x="8005860" y="4817150"/>
            <a:ext cx="3677848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Customers used discounts and still spent above the average purchase amount of $59.76.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05860" y="5812671"/>
            <a:ext cx="367784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10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KEEP DISCOUNTS TARGETED. TEST MARGIN-AWARE OFFERS INSTEAD OF BROAD PROMOTIONS.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15858"/>
            <a:ext cx="4185835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SUBSCRIPTION MIX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7987" y="834976"/>
            <a:ext cx="3677848" cy="202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F2E7D7"/>
                </a:solidFill>
                <a:latin typeface="IBM Plex Sans Condensed Bold" pitchFamily="34" charset="0"/>
                <a:ea typeface="IBM Plex Sans Condensed Bold" pitchFamily="34" charset="-122"/>
                <a:cs typeface="IBM Plex Sans Condensed Bold" pitchFamily="34" charset="-120"/>
              </a:rPr>
              <a:t>Subscription is under-penetrated among repeat buyers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3781600"/>
            <a:ext cx="3677848" cy="142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200" kern="100" spc="-112" dirty="0">
                <a:solidFill>
                  <a:srgbClr val="F23F72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2,518</a:t>
            </a:r>
            <a:endParaRPr lang="en-US" sz="11200" dirty="0"/>
          </a:p>
        </p:txBody>
      </p:sp>
      <p:sp>
        <p:nvSpPr>
          <p:cNvPr id="5" name="Text 3"/>
          <p:cNvSpPr/>
          <p:nvPr/>
        </p:nvSpPr>
        <p:spPr>
          <a:xfrm>
            <a:off x="507987" y="5271373"/>
            <a:ext cx="367784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Repeat buyers remain non-subscribers, compared with 958 repeat subscribers.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87" y="5992654"/>
            <a:ext cx="367784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10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SUBSCRIBERS AVERAGE $59.49</a:t>
            </a:r>
            <a:endParaRPr lang="en-US" sz="10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10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NON-SUBSCRIBERS AVERAGE $59.87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899" y="1631652"/>
            <a:ext cx="6024809" cy="3335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58899" y="5048885"/>
            <a:ext cx="653279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10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SUBSCRIPTION AND REPEAT-BUYER MIX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15858"/>
            <a:ext cx="1168370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PRODUCT EXPERIENCE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7987" y="834976"/>
            <a:ext cx="11175720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F2E7D7"/>
                </a:solidFill>
                <a:latin typeface="IBM Plex Sans Condensed Bold" pitchFamily="34" charset="0"/>
                <a:ea typeface="IBM Plex Sans Condensed Bold" pitchFamily="34" charset="-122"/>
                <a:cs typeface="IBM Plex Sans Condensed Bold" pitchFamily="34" charset="-120"/>
              </a:rPr>
              <a:t>Product experience is strongest in practical accessories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2003842"/>
            <a:ext cx="11683708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highest-rated products are practical accessories and adjacent wardrobe staples.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7987" y="3652670"/>
            <a:ext cx="2006550" cy="99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800" kern="100" spc="-78" dirty="0">
                <a:solidFill>
                  <a:srgbClr val="F23F72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3.86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507987" y="4748332"/>
            <a:ext cx="2235144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GLOVES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71726" y="3652670"/>
            <a:ext cx="1777956" cy="99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800" kern="100" spc="-78" dirty="0">
                <a:solidFill>
                  <a:srgbClr val="F2E7D7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3.84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2971726" y="4748332"/>
            <a:ext cx="200655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SANDALS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06870" y="3652670"/>
            <a:ext cx="1777956" cy="99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800" kern="100" spc="-78" dirty="0">
                <a:solidFill>
                  <a:srgbClr val="F2E7D7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3.82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5206870" y="4748332"/>
            <a:ext cx="200655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BOOTS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42014" y="3652670"/>
            <a:ext cx="1777956" cy="99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800" kern="100" spc="-78" dirty="0">
                <a:solidFill>
                  <a:srgbClr val="F2E7D7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3.80</a:t>
            </a:r>
            <a:endParaRPr lang="en-US" sz="7800" dirty="0"/>
          </a:p>
        </p:txBody>
      </p:sp>
      <p:sp>
        <p:nvSpPr>
          <p:cNvPr id="12" name="Text 10"/>
          <p:cNvSpPr/>
          <p:nvPr/>
        </p:nvSpPr>
        <p:spPr>
          <a:xfrm>
            <a:off x="7442014" y="4748332"/>
            <a:ext cx="200655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HATS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77158" y="3652670"/>
            <a:ext cx="2006550" cy="99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800" kern="100" spc="-78" dirty="0">
                <a:solidFill>
                  <a:srgbClr val="F2E7D7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3.78</a:t>
            </a:r>
            <a:endParaRPr lang="en-US" sz="7800" dirty="0"/>
          </a:p>
        </p:txBody>
      </p:sp>
      <p:sp>
        <p:nvSpPr>
          <p:cNvPr id="14" name="Text 12"/>
          <p:cNvSpPr/>
          <p:nvPr/>
        </p:nvSpPr>
        <p:spPr>
          <a:xfrm>
            <a:off x="9677158" y="4748332"/>
            <a:ext cx="200655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SKIRTS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987" y="6172736"/>
            <a:ext cx="1168370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10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AVERAGE PURCHASE AMOUNT: $60.48 EXPRESS SHIPPING · $58.46 STANDARD SHIPPING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36782" y="3553023"/>
            <a:ext cx="12700" cy="1384598"/>
          </a:xfrm>
          <a:prstGeom prst="rect">
            <a:avLst/>
          </a:prstGeom>
          <a:solidFill>
            <a:srgbClr val="F2E7D7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71926" y="3553023"/>
            <a:ext cx="12700" cy="1384598"/>
          </a:xfrm>
          <a:prstGeom prst="rect">
            <a:avLst/>
          </a:prstGeom>
          <a:solidFill>
            <a:srgbClr val="F2E7D7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207070" y="3553023"/>
            <a:ext cx="12700" cy="1384598"/>
          </a:xfrm>
          <a:prstGeom prst="rect">
            <a:avLst/>
          </a:prstGeom>
          <a:solidFill>
            <a:srgbClr val="F2E7D7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442214" y="3553023"/>
            <a:ext cx="12700" cy="1384598"/>
          </a:xfrm>
          <a:prstGeom prst="rect">
            <a:avLst/>
          </a:prstGeom>
          <a:solidFill>
            <a:srgbClr val="F2E7D7">
              <a:alpha val="28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15858"/>
            <a:ext cx="1168370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FROM ANALYSIS TO ACTION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7987" y="834976"/>
            <a:ext cx="11175720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F2E7D7"/>
                </a:solidFill>
                <a:latin typeface="IBM Plex Sans Condensed Bold" pitchFamily="34" charset="0"/>
                <a:ea typeface="IBM Plex Sans Condensed Bold" pitchFamily="34" charset="-122"/>
                <a:cs typeface="IBM Plex Sans Condensed Bold" pitchFamily="34" charset="-120"/>
              </a:rPr>
              <a:t>Three moves can turn analysis into action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2789138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23F72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7987" y="3073698"/>
            <a:ext cx="3521979" cy="19050"/>
          </a:xfrm>
          <a:prstGeom prst="rect">
            <a:avLst/>
          </a:prstGeom>
          <a:solidFill>
            <a:srgbClr val="F23F72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" y="3251867"/>
            <a:ext cx="352197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500" b="1" dirty="0">
                <a:solidFill>
                  <a:srgbClr val="F2E7D7"/>
                </a:solidFill>
                <a:latin typeface="IBM Plex Sans Condensed Bold" pitchFamily="34" charset="0"/>
                <a:ea typeface="IBM Plex Sans Condensed Bold" pitchFamily="34" charset="-122"/>
                <a:cs typeface="IBM Plex Sans Condensed Bold" pitchFamily="34" charset="-120"/>
              </a:rPr>
              <a:t>CONVERT REPEAT BUYERS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7987" y="4036993"/>
            <a:ext cx="3521979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Create a targeted subscription journey for the 2,518 repeat buyers who are not subscribed.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34759" y="2789138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23F72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4759" y="3073698"/>
            <a:ext cx="3521979" cy="19050"/>
          </a:xfrm>
          <a:prstGeom prst="rect">
            <a:avLst/>
          </a:prstGeom>
          <a:solidFill>
            <a:srgbClr val="F23F72"/>
          </a:solidFill>
          <a:ln/>
        </p:spPr>
      </p:sp>
      <p:sp>
        <p:nvSpPr>
          <p:cNvPr id="10" name="Text 8"/>
          <p:cNvSpPr/>
          <p:nvPr/>
        </p:nvSpPr>
        <p:spPr>
          <a:xfrm>
            <a:off x="4334759" y="3251867"/>
            <a:ext cx="352207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500" b="1" dirty="0">
                <a:solidFill>
                  <a:srgbClr val="F2E7D7"/>
                </a:solidFill>
                <a:latin typeface="IBM Plex Sans Condensed Bold" pitchFamily="34" charset="0"/>
                <a:ea typeface="IBM Plex Sans Condensed Bold" pitchFamily="34" charset="-122"/>
                <a:cs typeface="IBM Plex Sans Condensed Bold" pitchFamily="34" charset="-120"/>
              </a:rPr>
              <a:t>PROTECT MARGIN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334759" y="3703618"/>
            <a:ext cx="3522078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Set product-level discount guardrails for the five most discount-dependent products.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61629" y="2789138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23F72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61629" y="3073698"/>
            <a:ext cx="3521979" cy="19050"/>
          </a:xfrm>
          <a:prstGeom prst="rect">
            <a:avLst/>
          </a:prstGeom>
          <a:solidFill>
            <a:srgbClr val="F23F72"/>
          </a:solidFill>
          <a:ln/>
        </p:spPr>
      </p:sp>
      <p:sp>
        <p:nvSpPr>
          <p:cNvPr id="14" name="Text 12"/>
          <p:cNvSpPr/>
          <p:nvPr/>
        </p:nvSpPr>
        <p:spPr>
          <a:xfrm>
            <a:off x="8161629" y="3251867"/>
            <a:ext cx="352207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500" b="1" dirty="0">
                <a:solidFill>
                  <a:srgbClr val="F2E7D7"/>
                </a:solidFill>
                <a:latin typeface="IBM Plex Sans Condensed Bold" pitchFamily="34" charset="0"/>
                <a:ea typeface="IBM Plex Sans Condensed Bold" pitchFamily="34" charset="-122"/>
                <a:cs typeface="IBM Plex Sans Condensed Bold" pitchFamily="34" charset="-120"/>
              </a:rPr>
              <a:t>CONCENTRATE DEMAND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161629" y="3703618"/>
            <a:ext cx="3522078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Lead campaigns with clothing, young-adult revenue segments, and top-rated accessories.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15858"/>
            <a:ext cx="558786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NEXT DECISION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7987" y="856751"/>
            <a:ext cx="5079873" cy="216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b="1" dirty="0">
                <a:solidFill>
                  <a:srgbClr val="F2E7D7"/>
                </a:solidFill>
                <a:latin typeface="IBM Plex Sans Condensed Bold" pitchFamily="34" charset="0"/>
                <a:ea typeface="IBM Plex Sans Condensed Bold" pitchFamily="34" charset="-122"/>
                <a:cs typeface="IBM Plex Sans Condensed Bold" pitchFamily="34" charset="-120"/>
              </a:rPr>
              <a:t>Next decision: test the retention engine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7987" y="3149084"/>
            <a:ext cx="5079873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Start with repeat non-subscribers. Keep the first test focused, measurable, and tied to contribution margin.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0"/>
            <a:ext cx="6095848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5591" y="5011658"/>
            <a:ext cx="3708307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LAUNCH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55591" y="5386368"/>
            <a:ext cx="3352716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 focused subscription offer for repeat non-subscribers.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19489" y="5011658"/>
            <a:ext cx="3708307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MEASURE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419489" y="5386368"/>
            <a:ext cx="3352716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Conversion, repeat purchase rate, discount cost, and contribution margin.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83388" y="5011658"/>
            <a:ext cx="3708307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5" dirty="0">
                <a:solidFill>
                  <a:srgbClr val="BDB3A7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SCALE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83388" y="5386368"/>
            <a:ext cx="3352716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2E7D7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products, audiences, and shipping messages that outperform in the first test.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57548" y="4800600"/>
            <a:ext cx="12700" cy="2057400"/>
          </a:xfrm>
          <a:prstGeom prst="rect">
            <a:avLst/>
          </a:prstGeom>
          <a:solidFill>
            <a:srgbClr val="F2E7D7">
              <a:alpha val="2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121447" y="4800600"/>
            <a:ext cx="12700" cy="2057400"/>
          </a:xfrm>
          <a:prstGeom prst="rect">
            <a:avLst/>
          </a:prstGeom>
          <a:solidFill>
            <a:srgbClr val="F2E7D7">
              <a:alpha val="28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391</Words>
  <Application>Microsoft Office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IBM Plex Mono Medium</vt:lpstr>
      <vt:lpstr>IBM Plex Sans Condensed Bold</vt:lpstr>
      <vt:lpstr>IBM Plex Sans SemiBold</vt:lpstr>
      <vt:lpstr>League Gothic</vt:lpstr>
      <vt:lpstr>IBM Plex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Vardhelli Lokesh</cp:lastModifiedBy>
  <cp:revision>2</cp:revision>
  <dcterms:created xsi:type="dcterms:W3CDTF">2026-10-14T12:48:33Z</dcterms:created>
  <dcterms:modified xsi:type="dcterms:W3CDTF">2026-10-14T13:03:39Z</dcterms:modified>
</cp:coreProperties>
</file>